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164592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14630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CCD9EC"/>
                </a:solidFill>
                <a:latin typeface="Calibri"/>
              </a:rPr>
              <a:t>CEE 598 — Airport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19456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Project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29184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CCD9EC"/>
                </a:solidFill>
                <a:latin typeface="Calibri"/>
              </a:rPr>
              <a:t>FAARFIELD-Based CDF Analysis · 6 Airports · 13 Pavement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4805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Chidchanok Pleesudjai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9377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CCD9EC"/>
                </a:solidFill>
                <a:latin typeface="Calibri"/>
              </a:rPr>
              <a:t>PhD Candidate · School of Sustainable Engineering and the Built Environment · ASU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53492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CCD9EC"/>
                </a:solidFill>
                <a:latin typeface="Calibri"/>
              </a:rPr>
              <a:t>Spring 2026 · 2026-04-25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0350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VERDICT: 4 OVER · 9 UNDER (PCC fatigue controlling 12 of 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Project scope &amp; airports analyzed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What is CDF? — three failure modes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Why AeroPave?  Why not just FAARFIELD desktop?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AeroPave architecture — wrapping FAARFIELD 2.1.1's official engine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CDF calculation flow: input → output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The three Nf equations (AC fatigue, PCC fatigue, Subgrade rutting)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Per-section verdicts (4 OVER / 9 UNDER)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Headline finding 1: KMWH C-17 driver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Headline finding 2: KLHX thickness sensitivity case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Field validation — PCI vs CDF (ASTM D5340)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Data quality observations + 130-row gear-coordinate audit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A33"/>
                </a:solidFill>
                <a:latin typeface="Calibri"/>
              </a:rPr>
              <a:t>▸  </a:t>
            </a:r>
            <a:r>
              <a:rPr sz="1800">
                <a:solidFill>
                  <a:srgbClr val="1F2937"/>
                </a:solidFill>
                <a:latin typeface="Calibri"/>
              </a:rPr>
              <a:t>Limitations and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Six airports · 13 pavement sections · all HMA-overlay-on-rigid composites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ICAO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Airport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Sections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Subgrade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KLHX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La Junta Municipal, CO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Silt Loam (CBR 7)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KPUB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Pueblo Memorial, CO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Bedrock/Shale (CBR 12)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KMQJ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Indianapolis Regional, 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Silty Clay (CBR 4)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KCIU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Chippewa County Intl, MI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Runway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Fine Sand (CBR 20)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KOTM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Ottumwa Regional, IA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 + Runway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Silty Clay Loam (CBR 4)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KMWH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Grant County Intl, WA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Runway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Gravelly Coarse Sand (CBR 40)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11247120" cy="14630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/>
            <a:r>
              <a:rPr b="1" sz="1300">
                <a:solidFill>
                  <a:srgbClr val="1F2937"/>
                </a:solidFill>
              </a:rPr>
              <a:t>Goal</a:t>
            </a:r>
          </a:p>
          <a:p>
            <a:pPr algn="l"/>
            <a:r>
              <a:rPr sz="1100">
                <a:solidFill>
                  <a:srgbClr val="1F2937"/>
                </a:solidFill>
              </a:rPr>
              <a:t>Use FAARFIELD 2.1.1 to evaluate pavement adequacy (CDF) for 13 sections. Determine whether each section is OVER-designed (CDF &lt; 1.0) or UNDER-designed (CDF ≥ 1.0) for its 20-year design life and projected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is CDF?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Cumulative Damage Factor · FAA AC 150/5320-6G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0F1A33"/>
                </a:solidFill>
                <a:latin typeface="Calibri"/>
              </a:rPr>
              <a:t>Miner's linear damage-accumulation rule: CDF = Σᵢ (nᵢ / N_f,i)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where nᵢ is the number of equivalent design coverages by aircraft i, and N_f,i is the predicted number of coverages to fatigue failure for that aircraft on this pavement structure.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918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Eval depth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Response variable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AC fatigue (RDEC)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Asphalt overlay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Bottom of AC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Horizontal tensile strain ε_h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PCC fatigue (2014)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PCC slab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Bottom of PCC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Horizontal flexural stress σ_eff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Subgrade rutting (standard)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Natural subgrade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Top of subgrade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Vertical compressive strain ε_v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/>
            <a:r>
              <a:rPr b="1" sz="1300">
                <a:solidFill>
                  <a:srgbClr val="1F2937"/>
                </a:solidFill>
              </a:rPr>
              <a:t>Verdict</a:t>
            </a:r>
          </a:p>
          <a:p>
            <a:pPr algn="l"/>
            <a:r>
              <a:rPr sz="1100">
                <a:solidFill>
                  <a:srgbClr val="1F2937"/>
                </a:solidFill>
              </a:rPr>
              <a:t>Section CDF = max(CDF_AC, CDF_PCC, CDF_subgrade) over a 41-point lateral sweep (0–400″ from centerline).  CDF &lt; 1.0 → OVER-designed.  CDF ≥ 1.0 → UNDER-designed (fatigue failure within design life).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AeroPave?  Why Not Just FAARFIELD Desktop?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Same FAARFIELD engine. AeroPave adds the input-handling and audit layer this 13-section dataset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1247120" cy="11887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/>
            <a:r>
              <a:rPr b="1" sz="1300">
                <a:solidFill>
                  <a:srgbClr val="1F2937"/>
                </a:solidFill>
              </a:rPr>
              <a:t>The dataset that breaks the desktop GUI workflow</a:t>
            </a:r>
          </a:p>
          <a:p>
            <a:pPr algn="l"/>
            <a:r>
              <a:rPr sz="1100">
                <a:solidFill>
                  <a:srgbClr val="1F2937"/>
                </a:solidFill>
              </a:rPr>
              <a:t>6 airports · 13 sections · 859 traffic rows · 229 unique aircraft (ICAO).  FAARFIELD desktop's stock library has only 252 aircraft.  Of the 229 project ICAOs, roughly 40% (≈90 aircraft) are NOT in FAARFIELD's library and would require manual proxy selection by the engineer in the desktop GUI — for every aircraft, every section.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3657600" cy="32918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/>
            <a:r>
              <a:rPr b="1" sz="1400">
                <a:solidFill>
                  <a:srgbClr val="1F2937"/>
                </a:solidFill>
              </a:rPr>
              <a:t>Library coverage</a:t>
            </a:r>
          </a:p>
          <a:p>
            <a:pPr algn="l"/>
            <a:r>
              <a:rPr sz="1000" b="1">
                <a:solidFill>
                  <a:srgbClr val="1F2937"/>
                </a:solidFill>
              </a:rPr>
              <a:t>FAARFIELD desktop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252 aircraft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would force manual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proxy selection for ~90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project aircraft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per-engineer judgment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different engineers,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different answers</a:t>
            </a:r>
          </a:p>
          <a:p>
            <a:r>
              <a:t> </a:t>
            </a:r>
          </a:p>
          <a:p>
            <a:pPr algn="l"/>
            <a:r>
              <a:rPr sz="1000" b="1">
                <a:solidFill>
                  <a:srgbClr val="0F1A33"/>
                </a:solidFill>
              </a:rPr>
              <a:t>AeroPave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1,310 records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covers ALL 229 ICAOs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in the traffic mix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enriched library merges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FAA AircraftGeometry.xml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with FAA-ACD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same source FAARFIELD uses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33672" y="2468880"/>
            <a:ext cx="3657600" cy="3291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/>
            <a:r>
              <a:rPr b="1" sz="1400">
                <a:solidFill>
                  <a:srgbClr val="1F2937"/>
                </a:solidFill>
              </a:rPr>
              <a:t>Audit trail</a:t>
            </a:r>
          </a:p>
          <a:p>
            <a:pPr algn="l"/>
            <a:r>
              <a:rPr sz="1000" b="1">
                <a:solidFill>
                  <a:srgbClr val="1F2937"/>
                </a:solidFill>
              </a:rPr>
              <a:t>FAARFIELD desktop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No programmatic way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to prove which aircraft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proxies were used.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Engineer's notebook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No verification that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wheel coords reached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the solver unaltered</a:t>
            </a:r>
          </a:p>
          <a:p>
            <a:r>
              <a:t> </a:t>
            </a:r>
          </a:p>
          <a:p>
            <a:pPr algn="l"/>
            <a:r>
              <a:rPr sz="1000" b="1">
                <a:solidFill>
                  <a:srgbClr val="0F1A33"/>
                </a:solidFill>
              </a:rPr>
              <a:t>AeroPave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130-row gear-coordinate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trace audit at 1×10⁻⁶″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7 stages per aircraft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Excel deliverable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(results/gear_coordinate_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trace_audit.xlsx)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Zero divergences proven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2468880"/>
            <a:ext cx="3657600" cy="32918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/>
            <a:r>
              <a:rPr b="1" sz="1400">
                <a:solidFill>
                  <a:srgbClr val="1F2937"/>
                </a:solidFill>
              </a:rPr>
              <a:t>Speed &amp; iteration</a:t>
            </a:r>
          </a:p>
          <a:p>
            <a:pPr algn="l"/>
            <a:r>
              <a:rPr sz="1000" b="1">
                <a:solidFill>
                  <a:srgbClr val="1F2937"/>
                </a:solidFill>
              </a:rPr>
              <a:t>FAARFIELD desktop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Manual GUI workflow: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Re-enter all aircraft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for each section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No batch mode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13 sections × 200+ aircraft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≈ several days of clicks</a:t>
            </a:r>
          </a:p>
          <a:p>
            <a:r>
              <a:t> </a:t>
            </a:r>
          </a:p>
          <a:p>
            <a:pPr algn="l"/>
            <a:r>
              <a:rPr sz="1000" b="1">
                <a:solidFill>
                  <a:srgbClr val="0F1A33"/>
                </a:solidFill>
              </a:rPr>
              <a:t>AeroPave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Programmatic batch: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13 sections × full traffic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in 2.5 hours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Live recompute on input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   change (~600 ms)</a:t>
            </a:r>
          </a:p>
          <a:p>
            <a:pPr algn="l"/>
            <a:r>
              <a:rPr sz="1000">
                <a:solidFill>
                  <a:srgbClr val="1F2937"/>
                </a:solidFill>
              </a:rPr>
              <a:t>— Reproducible JSON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52160"/>
            <a:ext cx="11247120" cy="5943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0F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/>
            <a:r>
              <a:rPr b="1" sz="1300">
                <a:solidFill>
                  <a:srgbClr val="1F2937"/>
                </a:solidFill>
              </a:rPr>
              <a:t>Same engine.  AeroPave is the rigorous input + audit layer.</a:t>
            </a:r>
          </a:p>
          <a:p>
            <a:pPr algn="l"/>
            <a:r>
              <a:rPr sz="1100">
                <a:solidFill>
                  <a:srgbClr val="1F2937"/>
                </a:solidFill>
              </a:rPr>
              <a:t>AeroPave does NOT replace FAARFIELD's solver — both tools delegate stress and CDF math to FAARFIELD's compiled DLLs (LEAFClassLib, FaarFieldModel, AMClassLib, FAAMeshClassLib, FEMClassLib).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AeroPave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A wrapper around FAARFIELD 2.1.1's official compiled engine — not a re-implementation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VB.NET 4.8 / x86 backend wrapping FAARFIELD's compiled DLLs (LEAFClassLib, FaarFieldModel, AMClassLib, FAAMeshClassLib, FEMClassLib, ACClassLib).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React frontend serving as an interactive design-tool + reporting interface.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Stress + CDF math is FAARFIELD's. CDF accumulation is a parity port of modCDF.vb (validated 4580/4580 elements within 0.1% of FAARFIELD desktop printout).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Why use it instead of FAARFIELD desktop directly?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49039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FAARFIELD Desktop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AeroPave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Aircraft library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252 stock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1,310 records (covers all 229 ICAOs)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Aircraft NOT in library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Manual proxy by engineer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Deterministic tiered-match algorithm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Audit trail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Engineer's notebook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results/gear_coordinate_trace_audit.xlsx (130 rows)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Excel-vs-library mismatches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Silently ignored at GUI dropdown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Surfaced with red ≠excel indicator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Verification end-to-end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Trust the GUI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1×10⁻⁶ inch tolerance trace audit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CDF Calculation Flow — Input →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Five steps from raw inputs to OVER/UNDER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2240280" cy="9144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F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100">
                <a:solidFill>
                  <a:srgbClr val="1F2937"/>
                </a:solidFill>
              </a:rPr>
              <a:t>INPUTS</a:t>
            </a:r>
          </a:p>
          <a:p>
            <a:pPr algn="ctr"/>
            <a:r>
              <a:rPr sz="850">
                <a:solidFill>
                  <a:srgbClr val="1F2937"/>
                </a:solidFill>
              </a:rPr>
              <a:t>• Pavement structure
• Aircraft library (1,310)
• Traffic mix per section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1371600"/>
            <a:ext cx="146304" cy="182880"/>
          </a:xfrm>
          <a:prstGeom prst="rightArrow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52344" y="1005840"/>
            <a:ext cx="2240280" cy="914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100">
                <a:solidFill>
                  <a:srgbClr val="1F2937"/>
                </a:solidFill>
              </a:rPr>
              <a:t>STEP 1 — Resolve geometry</a:t>
            </a:r>
          </a:p>
          <a:p>
            <a:pPr algn="ctr"/>
            <a:r>
              <a:rPr sz="850">
                <a:solidFill>
                  <a:srgbClr val="1F2937"/>
                </a:solidFill>
              </a:rPr>
              <a:t>AircraftLibrary.
ResolveGeometry(icao, gear, mtow)
→ wheel_x[], wheel_y[], n_wheels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46904" y="1371600"/>
            <a:ext cx="146304" cy="182880"/>
          </a:xfrm>
          <a:prstGeom prst="rightArrow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38928" y="1005840"/>
            <a:ext cx="2240280" cy="914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100">
                <a:solidFill>
                  <a:srgbClr val="1F2937"/>
                </a:solidFill>
              </a:rPr>
              <a:t>STEP 2 — Build LEAFACParms</a:t>
            </a:r>
          </a:p>
          <a:p>
            <a:pPr algn="ctr"/>
            <a:r>
              <a:rPr sz="850">
                <a:solidFill>
                  <a:srgbClr val="1F2937"/>
                </a:solidFill>
              </a:rPr>
              <a:t>TireX[]=wheel_x, TireY[]=wheel_y
TirePress[], NTires, libGear,
GearLoad = MTOW × mg_pct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33488" y="1371600"/>
            <a:ext cx="146304" cy="182880"/>
          </a:xfrm>
          <a:prstGeom prst="rightArrow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25512" y="1005840"/>
            <a:ext cx="2240280" cy="9144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100">
                <a:solidFill>
                  <a:srgbClr val="1F2937"/>
                </a:solidFill>
              </a:rPr>
              <a:t>STEP 3 — LEAF stress</a:t>
            </a:r>
          </a:p>
          <a:p>
            <a:pPr algn="ctr"/>
            <a:r>
              <a:rPr sz="850">
                <a:solidFill>
                  <a:srgbClr val="1F2937"/>
                </a:solidFill>
              </a:rPr>
              <a:t>clsLEAF.GetResponses
(Burmister axisymmetric)
→ σx, σy, σz, εx, εy, εz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20072" y="1371600"/>
            <a:ext cx="146304" cy="182880"/>
          </a:xfrm>
          <a:prstGeom prst="rightArrow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12096" y="1005840"/>
            <a:ext cx="2240280" cy="9144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b="1" sz="1100">
                <a:solidFill>
                  <a:srgbClr val="1F2937"/>
                </a:solidFill>
              </a:rPr>
              <a:t>STEP 4 — Three Nf modes</a:t>
            </a:r>
          </a:p>
          <a:p>
            <a:pPr algn="ctr"/>
            <a:r>
              <a:rPr sz="850">
                <a:solidFill>
                  <a:srgbClr val="1F2937"/>
                </a:solidFill>
              </a:rPr>
              <a:t>AC fatigue · PCC fatigue
(optional FEM aug.) · Subgrade
N_f per aircraft × offset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286000"/>
            <a:ext cx="5852160" cy="228600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b="1" sz="1300">
                <a:solidFill>
                  <a:srgbClr val="1F2937"/>
                </a:solidFill>
              </a:rPr>
              <a:t>STEP 5 — Aggregate to section CDF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alibri"/>
              </a:rPr>
              <a:t>For each lateral offset y_off ∈ {0, 10, …, 400″}: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• Coverages_i = annual_deps × 20yr × growth_factor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• pass-to-coverage from Gauss wander (σ = 30.435″)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• ΔCDF_i = (coverages × p2c) / N_f,i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CDF_section = max over modes, max over offsets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2286000"/>
            <a:ext cx="5852160" cy="22860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0F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b="1" sz="1300">
                <a:solidFill>
                  <a:srgbClr val="1F2937"/>
                </a:solidFill>
              </a:rPr>
              <a:t>OUTPUT — cdf_results.json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{ icao, section_id, cdf_max, controlling, adequate,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alibri"/>
              </a:rPr>
              <a:t>  cdf_ac, cdf_pcc, cdf_sub,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alibri"/>
              </a:rPr>
              <a:t>  cdf_profile_offsets_in[],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alibri"/>
              </a:rPr>
              <a:t>  cdf_profile_pcc[], cdf_profile_ac[], cdf_profile_sub[],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alibri"/>
              </a:rPr>
              <a:t>  top_aircraft_full[10] (libGear, wheel_x[], σ_LEAF, σ_FEM…)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983480"/>
            <a:ext cx="11430000" cy="12801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/>
            <a:r>
              <a:rPr b="1" sz="1300">
                <a:solidFill>
                  <a:srgbClr val="1F2937"/>
                </a:solidFill>
              </a:rPr>
              <a:t>Validated against FAARFIELD desktop</a:t>
            </a:r>
          </a:p>
          <a:p>
            <a:pPr algn="l"/>
            <a:r>
              <a:rPr sz="1100">
                <a:solidFill>
                  <a:srgbClr val="1F2937"/>
                </a:solidFill>
              </a:rPr>
              <a:t>AeroPave's per-element FEM stress was cross-checked against FAARFIELD 2.1.1 desktop's own printout file: 4580/4580 elements within 0.1% of peak (Phase D crosscheck PASS). Same engine, same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Three Nf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AC fatigue · PCC fatigue · Subgrade rutting — ported from FAARFIELD 2.1.1 modCDF.vb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749039" cy="50292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/>
            <a:r>
              <a:rPr b="1" sz="1500">
                <a:solidFill>
                  <a:srgbClr val="1F2937"/>
                </a:solidFill>
              </a:rPr>
              <a:t>AC Fatigue — RDEC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ε_h = max(|StrainX|, |StrainY|)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  at z = h_AC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PV = 44.422 · ε_h^5.14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  · (E_AC × 0.0068948)^2.993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  · V_r^1.85 · G_p^(−0.4063)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N_f = 0.4801 · PV^(−0.90074)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>where: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V_r = AirVoids/(AirVoids+AsphaltVol)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G_p = (PNMS−PPCS)/P200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E_AC = 200,000 psi (default)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749039" cy="50292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/>
            <a:r>
              <a:rPr b="1" sz="1500">
                <a:solidFill>
                  <a:srgbClr val="1F2937"/>
                </a:solidFill>
              </a:rPr>
              <a:t>PCC Fatigue — 2014 Model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σ_LEAF = max(|σx|, |σy|)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  at z = h_AC + h_PCC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σ_FEM  = AMClassLib FEM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σ_eff = max(σ_FEM, 0.95·σ_LEAF)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DF    = R / σ_eff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sci_f = 1 − SCI/100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DEN   = sci_f·(D−B) + FSlope·B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AA = DF − [sci_f·(A·D−B·C)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       + FSlope·B·C] / DEN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BB = (FSlope·B·D) / DEN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N_f = 10^(AA / BB)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     capped at 10^10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>Constants A,B,C,D vary with E_sg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1097280"/>
            <a:ext cx="3749039" cy="5029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/>
            <a:r>
              <a:rPr b="1" sz="1500">
                <a:solidFill>
                  <a:srgbClr val="1F2937"/>
                </a:solidFill>
              </a:rPr>
              <a:t>Subgrade Rutting — Standard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ε_v = |StrainZ|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  at z = Σ h_i (top of subgrade)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A = 0.000247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    + 0.000245·log10(E_sg)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B = 0.0658 · E_sg^0.559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onsolas"/>
              </a:rPr>
              <a:t>N_f = 10,000 · (A / ε_v)^B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>Alt: StraightLine override at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>high-departure regime (&gt;10M)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1F2937"/>
                </a:solidFill>
                <a:latin typeface="Calibri"/>
              </a:rPr>
              <a:t>Alt: Bleasdale override (rare)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6263640"/>
            <a:ext cx="114300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F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/>
            <a:r>
              <a:rPr b="1" sz="1300">
                <a:solidFill>
                  <a:srgbClr val="1F2937"/>
                </a:solidFill>
              </a:rPr>
              <a:t>Source</a:t>
            </a:r>
          </a:p>
          <a:p>
            <a:pPr algn="l"/>
            <a:r>
              <a:rPr sz="1100">
                <a:solidFill>
                  <a:srgbClr val="1F2937"/>
                </a:solidFill>
              </a:rPr>
              <a:t>FullAnalysisWrapper.vb in AeroPave · Verified against FAARFIELD desktop CDF on 13 sections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PCC Fatigue — Subgrade-Modulus-Dependent Constants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FAARFIELD's 2014 model: A, B, C, D vary with subgrade modulus E_sg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86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E_sg range (psi)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 A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 B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 C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 D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E_sg ≤ 4,500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4,500 &lt; E_sg &lt; 45,000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0.76 + (E_sg−4500)·2.54×10⁻⁵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0.857 + (E_sg−4500)·2.31×10⁻⁵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E_sg ≥ 45,000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≤ 1.027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1.794 + (E_sg−45000)·2.54×10⁻⁵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FSlope adjustment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Derived from structural-equivalent thickness of layers above the PCC slab.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Aggregate base factor = 0.5; stiffer materials get up to 1.0.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Polynomial in E_sg/1000 (CompforStab, modCDF.vb:706–755).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Two real bugs caught and fixed during analysis: (1) missing exponent cap of 10 → produced absurd N_f for stiff sections; (2) wrapper had ported the dead legacy 2013 fatigue function instead of the active 2014 model. They diverge by 10–1000× at SR &gt; ~0.4 but agree at the N_f = 10^10 floor.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52160"/>
            <a:ext cx="1124712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/>
            <a:r>
              <a:rPr b="1" sz="1300">
                <a:solidFill>
                  <a:srgbClr val="1F2937"/>
                </a:solidFill>
              </a:rPr>
              <a:t>Validation</a:t>
            </a:r>
          </a:p>
          <a:p>
            <a:pPr algn="l"/>
            <a:r>
              <a:rPr sz="1100">
                <a:solidFill>
                  <a:srgbClr val="1F2937"/>
                </a:solidFill>
              </a:rPr>
              <a:t>Current implementation matches FAARFIELD desktop output on the 13 project sections (this report).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Per-Section Verdicts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4 OVER-designed · 9 UNDER-designed · PCC fatigue controlling 12 of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722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ICAO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Layers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CDF (max)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KCIU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21222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Runway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2.5" AC + 24" PCC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76.003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KLHX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6627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2.5" AC + 6" PCC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6.671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KLHX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7347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2" AC + 10" PCC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5.04e-03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OVER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KMQJ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8640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 TWA3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3.5" AC + 8" PCC + 6" Stab Base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18.132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KMQJ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8662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 TWA2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3.5" AC + 8" PCC + 6" Stab Base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18.132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KMQJ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8780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 TWA4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3.5" AC + 8" PCC + 6" Stab Base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18.132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KMQJ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8881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 TWA1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3.5" AC + 8" PCC + 6" Stab Subbase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46.874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KMWH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37325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Runway (narrow)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2" AC + 6" PCC + 12" Agg Base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2.30e+04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KMWH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37508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Runway (wide)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2" AC + 6" PCC + 12" Agg Base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2.41e+04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KOTM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27450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Runway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3" AC + 9" PCC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0.466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OVER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KOTM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27641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Runway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3" AC + 8" PCC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OVER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KOTM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28171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2.5" AC + 8" PCC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0.941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OVER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7229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KPUB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6948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Taxiway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2.5" AC + 7" PCC + 6" P-154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9.65e+02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Headline 1 — KMWH C-17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Both runways severely under-designed (CDF ≈ 23,000–24,100). Same root cause: C-17 Globemaster.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CDF (max)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C-17 contribution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KMWH 37325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2″ AC + 6″ PCC + 12″ Agg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2.30×10⁴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C-17 = 14,164 (60%)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KMWH 37508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2″ AC + 6″ PCC + 12″ Agg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2.41×10⁴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C-17 = 14,164 (60%)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Why C-17 dominates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C-17 is a 2T tridem with 12 main-gear wheels (per FAARFIELD's library) — Excel mislabeled it as 2D (8 wheels).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MTOW 585,000 lb · gear load ~556,000 lb spread across 12 wheels.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895.5 annual departures at BOTH sections (identical) → 17,015 design departures over 20 years.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Identical pavement structure → identical 14,164 contribution to section CDF at both sections.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Marginal CDF spread (~5%) comes from secondary aircraft only (737 MAX 8 +60% at 37508; MRJ-90 only at 37508; C-130J only at 37325).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/>
            <a:r>
              <a:rPr b="1" sz="1300">
                <a:solidFill>
                  <a:srgbClr val="1F2937"/>
                </a:solidFill>
              </a:rPr>
              <a:t>Field validation</a:t>
            </a:r>
          </a:p>
          <a:p>
            <a:pPr algn="l"/>
            <a:r>
              <a:rPr sz="1100">
                <a:solidFill>
                  <a:srgbClr val="1F2937"/>
                </a:solidFill>
              </a:rPr>
              <a:t>KMWH 37325 shows the highest field load-attributable PCI deduct in the entire study (26.2%). The site that FAARFIELD says is most overloaded by C-17 is also the site where the field shows the most load-related distress.  Direct prediction-vs-observation match.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Headline 2 — KLHX Thickness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Same airport, same subgrade, same traffic. Only PCC thickness differs. CDF drops 1,300×.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PCC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Subgrade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CDF (max)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KLHX 6627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2.5″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6.0″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Silt Loam (CBR 7)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6.67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KLHX 7347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2.0″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10.0″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Silt Loam (CBR 7)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5.04×10⁻³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OVER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What 4″ of additional PCC buys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377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C-130 is the controlling aircraft at both — 0.625 annual departures, gear load ~147,000 lb on a Dual Tandem.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At 6627 (6″ PCC): C-130 contributes 5.22 of section CDF 6.67 → ~78% — section fatigues in &lt;4 years.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At 7347 (10″ PCC): C-130 contributes 9×10⁻⁴ of section CDF 5.0×10⁻³ → negligible — 200+ years headroom.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Same engineering load. Same subgrade. PCC thickness is the design lever.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32120"/>
            <a:ext cx="11247120" cy="9601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0F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/>
            <a:r>
              <a:rPr b="1" sz="1300">
                <a:solidFill>
                  <a:srgbClr val="1F2937"/>
                </a:solidFill>
              </a:rPr>
              <a:t>Engineering takeaway</a:t>
            </a:r>
          </a:p>
          <a:p>
            <a:pPr algn="l"/>
            <a:r>
              <a:rPr sz="1100">
                <a:solidFill>
                  <a:srgbClr val="1F2937"/>
                </a:solidFill>
              </a:rPr>
              <a:t>PCC slab thickness is the most efficient single design lever for AC-overlay-on-rigid composites with low-CBR subgrade and moderate aircraft loads. KLHX provides a clean per-airport case study quantifying that lever.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Field Validation — PCI vs CDF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ASTM D5340 inspections (58 records, 2005–2023) compared to FAARFIELD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Why raw PCI ≠ CDF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FAARFIELD CDF: predicts STRUCTURAL FATIGUE of the PCC slab (load damage only).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ASTM D5340 PCI: measures VISIBLE SURFACE DISTRESS on the AC overlay (load + climate + age + maintenance).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PCC slab cracks happen UNDER the AC; require years to propagate up and become inspectable. Surface PCI lags structural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The right comparison: load-adjusted deduct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  <a:latin typeface="Consolas"/>
              </a:rPr>
              <a:t>Load-adjusted deduct (LAD) = (100 − PCI_latest) × pct_load_latest / 100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1148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Section(s)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CDF (predicted)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pct_load (field)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Story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KMWH 37325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2.30×10⁴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26.2%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C-17 traffic showing as load damage — direct validation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KLHX 7347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5.04×10⁻³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Predicted no load damage; observed none — cleanest negative validation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KMQJ 8881/8662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47 / 18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11–15%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Mixed deterioration; CDF supported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KOTM 27450/27641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0.47 / 0.96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Rehab artifact (recent overlay reset PCI to ~95)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KMWH 37508 / KPUB 6948 / KCIU 21222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10²–10⁴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Climate-only at surface; load damage likely sub-surface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Data Quality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Three classes of finding · none affect engineering conclusions · disclosed for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1. Excel-vs-library gear-class mismatches (11 aircraft, 38 traffic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960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Most consequential: C-17 — Excel says 2D (8 wheels); library says 2T (12 wheels).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Both FAARFIELD desktop and AeroPave key on ICAO and read wheel coords from AircraftGeometry.xml. Excel's gear column is documentation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2. Layer label inconsistency (KMQJ 8881)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972800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Same physical layer (h=6″, E=500,000 psi, ν=0.20) labeled 'Stabilized Subbase' at 8881 vs 'Stabilized Base' at 8640/8662/8780.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Both labels valid per FAA AC 150/5320-6 for single-stabilized-layer pavements. FAARFIELD's analysis is independent of the label.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3. Per-section traffic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1097280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Sections sharing identical structures within an airport record different per-section annual departures for some aircraft.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Legitimate operational reality (different runways/taxiways see different mixes); correctly handled by FAARFIELD.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Dominant aircraft drive the verdict identically across sections; secondary differences produce only marginal spread.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852160"/>
            <a:ext cx="11247120" cy="594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/>
            <a:r>
              <a:rPr b="1" sz="1300">
                <a:solidFill>
                  <a:srgbClr val="1F2937"/>
                </a:solidFill>
              </a:rPr>
              <a:t>Methodology framing</a:t>
            </a:r>
          </a:p>
          <a:p>
            <a:pPr algn="l"/>
            <a:r>
              <a:rPr sz="1100">
                <a:solidFill>
                  <a:srgbClr val="1F2937"/>
                </a:solidFill>
              </a:rPr>
              <a:t>These observations strengthen the methodology — they document that the analysis pipeline is internally consistent and that input data quirks are handled correctly without modifying the source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Gear-Coordinate Trace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130 aircraft × section combinations · 1×10⁻⁶ inch tolerance · 7 pipeline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1A33"/>
                </a:solidFill>
                <a:latin typeface="Calibri"/>
              </a:rPr>
              <a:t>What was audited (POST /api/diag/gear-trace)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1188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Stage 1: Traffic input  →  Stage 2: Library record  →  Stage 3: ResolveGeometry output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Stage 4: LEAFACParms passed to clsLEAF · Stage 5: LEAFACParms reused by FullAnalysisWrapper for CDF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Stage 6: LEAFACParms before FEM3D PrepareAircraftForFem3d  →  Stage 7: LEAFACParms after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Audit flag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45720" marR="45720" marT="36576" marB="36576">
                    <a:solidFill>
                      <a:srgbClr val="0F1A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✅ EXACT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Coordinates pass through every stage unchanged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🟠 SYNTHETIC_DUAL (FEM only)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Complex gear collapsed to 2-wheel approximation at FEM3D step only · CDF still uses real coords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🔴 DIVERGENCE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No LEAF/CDF/FEM-pre disagreement detected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⚪ NO_GEOMETRY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Every consequential aircraft used real-aircraft-derived geometry</a:t>
                      </a:r>
                    </a:p>
                  </a:txBody>
                  <a:tcPr marL="45720" marR="45720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1A33"/>
                </a:solidFill>
                <a:latin typeface="Calibri"/>
              </a:rPr>
              <a:t>Source distribution (130 entries)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xml direct: 79 (61%)  ·  nearest_proxy: 43 (33%)  ·  family_proxy: 5 (4%)  ·  proxy_override: 3 (2%)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A33"/>
                </a:solidFill>
                <a:latin typeface="Calibri"/>
              </a:rPr>
              <a:t>▸  </a:t>
            </a:r>
            <a:r>
              <a:rPr sz="1100">
                <a:solidFill>
                  <a:srgbClr val="1F2937"/>
                </a:solidFill>
                <a:latin typeface="Calibri"/>
              </a:rPr>
              <a:t>0 gear_template  ·  0 dual_fallback  → no synthetic templates contributed to any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PCI inspections lag structural condition. Sections predicted under-designed but currently showing 0% load-attributable deduct (KMWH 37508, KPUB 6948, KCIU 21222) most likely have sub-surface PCC slab fatigue not yet visible at the AC surface. Falsifying would require FWD/GPR or longer observation windows.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13-section CDF cross-check against FAARFIELD desktop GUI is recommended as additional validation. Phase D crosscheck (FEM stress) PASSED; full CDF cross-check is outside this project's scope.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3D FEM mesh visualization collapses complex-gear aircraft (C-17, B788, B789, K35R) to a synthetic 2-wheel dual approximation — a documented FAARFIELD managed-FEM limitation. CDF uses real wheel layout (verified by audit); only 3D visualization shows the approximation. Does NOT affect the verdict.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PCC modulus of rupture R is set to 700 psi (FAARFIELD default) for most sections. Older sections (PCC age &gt; 20 years) could justify R reduction to ~360 psi (FAA AC 150/5320-6F lower bound). Current results are slightly optimistic for those sections.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Subgrade modulus is derived from NRCS Web Soil Survey CBR via E_sg = 1500·CBR. Site-specific FWD-derived moduli would tighten the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37784"/>
                </a:solidFill>
                <a:latin typeface="Calibri"/>
              </a:rPr>
              <a:t>4 OVER · 9 UNDER · PCC fatigue dominant · methodology validated by 130-row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Of 13 sections analyzed across 6 airports, 9 are predicted under-designed (CDF ≥ 1) and 4 over-designed (CDF &lt; 1).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PCC fatigue is the controlling failure mode for 12 of 13 sections; subgrade rutting controls one.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Most severe under-design at KMWH (CDF ≈ 23,000–24,100) is driven by C-17 Globemaster on a 6″-PCC slab. Field PCI at 37325 shows the highest load-attributable deduct in the entire study (26.2%) — direct field validation.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Cleanest design-margin demonstration is at KLHX: 4″ of additional PCC reduces CDF by ~1,300× for the same traffic.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Field validation across the 13 sections supports FAARFIELD predictions where surface distress has had time to manifest. Most sections show climate-dominated surface aging (not predicted by load-only CDF) — expected for AC-overlay-on-rigid composites at mid-life.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A33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130-row gear-coordinate trace audit at 1×10⁻⁶ inch tolerance: zero divergences. Wheel coordinates from the enriched library reach the LEAF and CDF solvers unaltered for every aircraft × section combination.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737784"/>
                </a:solidFill>
                <a:latin typeface="Calibri"/>
              </a:rPr>
              <a:t>Chidchanok Pleesudjai · CEE 598 Final Project · ASU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3778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164592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256032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47472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1">
                <a:solidFill>
                  <a:srgbClr val="CCD9EC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389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CCD9EC"/>
                </a:solidFill>
                <a:latin typeface="Calibri"/>
              </a:rPr>
              <a:t>Chidchanok Pleesudjai · cpleesud@asu.edu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937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CCD9EC"/>
                </a:solidFill>
                <a:latin typeface="Calibri"/>
              </a:rPr>
              <a:t>Companion report: results/CEE598_Final_Report_PleesudjaiC.docx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53492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CCD9EC"/>
                </a:solidFill>
                <a:latin typeface="Calibri"/>
              </a:rPr>
              <a:t>Audit Excel:    results/gear_coordinate_trace_audit.xlsx (130 rows, 0 divergences)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